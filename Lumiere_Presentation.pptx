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0E12"/>
          </a:solidFill>
          <a:ln>
            <a:solidFill>
              <a:srgbClr val="3A0E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ED7B8"/>
                </a:solidFill>
              </a:defRPr>
            </a:pPr>
            <a:r>
              <a:t>GROUP 5  •  UNIT 2 : OBJECT-ORIENTED PROGRAMMING WITH JAVA</a:t>
            </a:r>
          </a:p>
          <a:p>
            <a:pPr>
              <a:defRPr sz="5400" b="1">
                <a:solidFill>
                  <a:srgbClr val="FFFFFF"/>
                </a:solidFill>
              </a:defRPr>
            </a:pPr>
            <a:r>
              <a:t>Lumière Cinemas</a:t>
            </a:r>
          </a:p>
          <a:p>
            <a:pPr>
              <a:defRPr sz="2200">
                <a:solidFill>
                  <a:srgbClr val="FED7B8"/>
                </a:solidFill>
              </a:defRPr>
            </a:pPr>
            <a:r>
              <a:t>Modular Web-Based Cinema Ticketing &amp; Reservation System</a:t>
            </a:r>
          </a:p>
          <a:p>
            <a:pPr>
              <a:defRPr sz="1600"/>
            </a:pPr>
            <a:r>
              <a:t> 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Project Team:</a:t>
            </a:r>
            <a:br/>
            <a:r>
              <a:t>• Kabir Ubale (Lead Architecture &amp; Backend Core)</a:t>
            </a:r>
            <a:br/>
            <a:r>
              <a:t>• Shaikh Rahim (Movie Entity &amp; Frontend Catalog)</a:t>
            </a:r>
            <a:br/>
            <a:r>
              <a:t>• Shruti Wadhonkar (Customer Entity &amp; CSS Design)</a:t>
            </a:r>
            <a:br/>
            <a:r>
              <a:t>• Shivani Dudhane (Ticket Billing &amp; Client Scripting)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9171B"/>
          </a:solidFill>
          <a:ln>
            <a:solidFill>
              <a:srgbClr val="591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FED7B8"/>
                </a:solidFill>
              </a:defRPr>
            </a:pPr>
            <a:r>
              <a:t>LUMIÈRE CINEMAS | OOP JAVA PROJECT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Project Overview &amp; Executive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91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b="1" sz="1600">
                <a:solidFill>
                  <a:srgbClr val="59171B"/>
                </a:solidFill>
              </a:defRPr>
            </a:pPr>
            <a:r>
              <a:t>🎯 Project Motivation</a:t>
            </a:r>
          </a:p>
          <a:p>
            <a:pPr>
              <a:defRPr sz="1250">
                <a:solidFill>
                  <a:srgbClr val="2B0F0A"/>
                </a:solidFill>
              </a:defRPr>
            </a:pPr>
            <a:r>
              <a:t>Traditional desktop Java Swing UIs are bulky and difficult to deploy across modern devices.</a:t>
            </a:r>
            <a:br/>
            <a:br/>
            <a:r>
              <a:t>Lumière transforms this into a high-performance web architecture while retaining pure Java as the primary backend.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7160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91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b="1" sz="1600">
                <a:solidFill>
                  <a:srgbClr val="59171B"/>
                </a:solidFill>
              </a:defRPr>
            </a:pPr>
            <a:r>
              <a:t>⚡ Pure Java Backend</a:t>
            </a:r>
          </a:p>
          <a:p>
            <a:pPr>
              <a:defRPr sz="1250">
                <a:solidFill>
                  <a:srgbClr val="2B0F0A"/>
                </a:solidFill>
              </a:defRPr>
            </a:pPr>
            <a:r>
              <a:t>Built entirely using Java standard library (JDK 11+) with zero third-party dependencies.</a:t>
            </a:r>
            <a:br/>
            <a:br/>
            <a:r>
              <a:t>Embedded HttpServer handles REST API routing and static asset dispatching seamlessly.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1206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91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b="1" sz="1600">
                <a:solidFill>
                  <a:srgbClr val="59171B"/>
                </a:solidFill>
              </a:defRPr>
            </a:pPr>
            <a:r>
              <a:t>🎟️ Cinema Experience</a:t>
            </a:r>
          </a:p>
          <a:p>
            <a:pPr>
              <a:defRPr sz="1250">
                <a:solidFill>
                  <a:srgbClr val="2B0F0A"/>
                </a:solidFill>
              </a:defRPr>
            </a:pPr>
            <a:r>
              <a:t>Features an interactive 10x12 curved seat matrix (Rows A-J, Columns 1-12 with center aisle), live dynamic price breakdown, and real-time seat collision checks.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3931920"/>
            <a:ext cx="51206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91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b="1" sz="1600">
                <a:solidFill>
                  <a:srgbClr val="59171B"/>
                </a:solidFill>
              </a:defRPr>
            </a:pPr>
            <a:r>
              <a:t>📊 Real-Time Analytics</a:t>
            </a:r>
          </a:p>
          <a:p>
            <a:pPr>
              <a:defRPr sz="1250">
                <a:solidFill>
                  <a:srgbClr val="2B0F0A"/>
                </a:solidFill>
              </a:defRPr>
            </a:pPr>
            <a:r>
              <a:t>Automated transactional tracking for active bookings, total seats booked, dynamic GST calculations, and gross theater revenue updates.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9171B"/>
          </a:solidFill>
          <a:ln>
            <a:solidFill>
              <a:srgbClr val="591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FED7B8"/>
                </a:solidFill>
              </a:defRPr>
            </a:pPr>
            <a:r>
              <a:t>LUMIÈRE CINEMAS | OOP JAVA PROJECT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System Architecture &amp; Request-Response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91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b="1" sz="1600">
                <a:solidFill>
                  <a:srgbClr val="59171B"/>
                </a:solidFill>
              </a:defRPr>
            </a:pPr>
            <a:r>
              <a:t>1. Client Layer (Web UI)</a:t>
            </a:r>
          </a:p>
          <a:p>
            <a:pPr>
              <a:defRPr sz="1250">
                <a:solidFill>
                  <a:srgbClr val="2B0F0A"/>
                </a:solidFill>
              </a:defRPr>
            </a:pPr>
            <a:r>
              <a:t>• Single Page Application (SPA)</a:t>
            </a:r>
            <a:br/>
            <a:r>
              <a:t>• Responsive HTML5 / CSS3</a:t>
            </a:r>
            <a:br/>
            <a:r>
              <a:t>• Real-time JavaScript controller</a:t>
            </a:r>
            <a:br/>
            <a:r>
              <a:t>• Multi-screen view routing:</a:t>
            </a:r>
            <a:br/>
            <a:r>
              <a:t>   - Home (Catalog &amp; Filter)</a:t>
            </a:r>
            <a:br/>
            <a:r>
              <a:t>   - Details (Cinema &amp; Times)</a:t>
            </a:r>
            <a:br/>
            <a:r>
              <a:t>   - Booking (Seat Matrix)</a:t>
            </a:r>
            <a:br/>
            <a:r>
              <a:t>   - Confirmed (Receipt Card)</a:t>
            </a:r>
            <a:br/>
            <a:r>
              <a:t>   - Bookings (Search &amp; Cancel)</a:t>
            </a:r>
            <a:br/>
            <a:r>
              <a:t>   - Summary (KPI Dashboard)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91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b="1" sz="1600">
                <a:solidFill>
                  <a:srgbClr val="59171B"/>
                </a:solidFill>
              </a:defRPr>
            </a:pPr>
            <a:r>
              <a:t>2. REST API Layer (HTTP)</a:t>
            </a:r>
          </a:p>
          <a:p>
            <a:pPr>
              <a:defRPr sz="1250">
                <a:solidFill>
                  <a:srgbClr val="2B0F0A"/>
                </a:solidFill>
              </a:defRPr>
            </a:pPr>
            <a:r>
              <a:t>• GET /api/movies</a:t>
            </a:r>
            <a:br/>
            <a:r>
              <a:t>   Delivers 8-film movie catalog</a:t>
            </a:r>
            <a:br/>
            <a:br/>
            <a:r>
              <a:t>• GET /api/booked-seats</a:t>
            </a:r>
            <a:br/>
            <a:r>
              <a:t>   Real-time occupied seat array</a:t>
            </a:r>
            <a:br/>
            <a:br/>
            <a:r>
              <a:t>• POST /api/book</a:t>
            </a:r>
            <a:br/>
            <a:r>
              <a:t>   Atomic ticket creation &amp; bill calc</a:t>
            </a:r>
            <a:br/>
            <a:br/>
            <a:r>
              <a:t>• POST /api/cancel</a:t>
            </a:r>
            <a:br/>
            <a:r>
              <a:t>   Instant seat release</a:t>
            </a:r>
            <a:br/>
            <a:br/>
            <a:r>
              <a:t>• GET /api/summary</a:t>
            </a:r>
            <a:br/>
            <a:r>
              <a:t>   Total revenue &amp; seat counters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91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b="1" sz="1600">
                <a:solidFill>
                  <a:srgbClr val="59171B"/>
                </a:solidFill>
              </a:defRPr>
            </a:pPr>
            <a:r>
              <a:t>3. Core Java Engine</a:t>
            </a:r>
          </a:p>
          <a:p>
            <a:pPr>
              <a:defRPr sz="1250">
                <a:solidFill>
                  <a:srgbClr val="2B0F0A"/>
                </a:solidFill>
              </a:defRPr>
            </a:pPr>
            <a:r>
              <a:t>• App.java Web Server</a:t>
            </a:r>
            <a:br/>
            <a:r>
              <a:t>   High-speed multithreaded server</a:t>
            </a:r>
            <a:br/>
            <a:br/>
            <a:r>
              <a:t>• BookingStore Engine</a:t>
            </a:r>
            <a:br/>
            <a:r>
              <a:t>   Thread-safe transactional store</a:t>
            </a:r>
            <a:br/>
            <a:br/>
            <a:r>
              <a:t>• Domain Models</a:t>
            </a:r>
            <a:br/>
            <a:r>
              <a:t>   Movie, Customer, Ticket</a:t>
            </a:r>
            <a:br/>
            <a:br/>
            <a:r>
              <a:t>• Polymorphism Engine</a:t>
            </a:r>
            <a:br/>
            <a:r>
              <a:t>   PremiumTicket recliner billing</a:t>
            </a:r>
            <a:br/>
            <a:br/>
            <a:r>
              <a:t>• Collision Prevention</a:t>
            </a:r>
            <a:br/>
            <a:r>
              <a:t>   Guarantees no double booking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9171B"/>
          </a:solidFill>
          <a:ln>
            <a:solidFill>
              <a:srgbClr val="591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FED7B8"/>
                </a:solidFill>
              </a:defRPr>
            </a:pPr>
            <a:r>
              <a:t>LUMIÈRE CINEMAS | OOP JAVA PROJECT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Module Ownership &amp; Git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2286000"/>
          </a:xfrm>
          <a:prstGeom prst="roundRect">
            <a:avLst/>
          </a:prstGeom>
          <a:solidFill>
            <a:srgbClr val="FED7B8"/>
          </a:solidFill>
          <a:ln w="19050">
            <a:solidFill>
              <a:srgbClr val="591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b="1" sz="1600">
                <a:solidFill>
                  <a:srgbClr val="59171B"/>
                </a:solidFill>
              </a:defRPr>
            </a:pPr>
            <a:r>
              <a:t>Kabir Ubale — Lead Architect</a:t>
            </a:r>
          </a:p>
          <a:p>
            <a:pPr>
              <a:defRPr sz="1250">
                <a:solidFill>
                  <a:srgbClr val="2B0F0A"/>
                </a:solidFill>
              </a:defRPr>
            </a:pPr>
            <a:r>
              <a:t>• App.java (Embedded HTTP Web Server &amp; REST API)</a:t>
            </a:r>
            <a:br/>
            <a:r>
              <a:t>• BookingStore.java (Transactional Store &amp; Seat Engine)</a:t>
            </a:r>
            <a:br/>
            <a:r>
              <a:t>• Auto-port detector &amp; multi-folder file dispatcher</a:t>
            </a:r>
            <a:br/>
            <a:r>
              <a:t>• Project build &amp; run_lumiere.bat launcher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7160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91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b="1" sz="1600">
                <a:solidFill>
                  <a:srgbClr val="59171B"/>
                </a:solidFill>
              </a:defRPr>
            </a:pPr>
            <a:r>
              <a:t>Shaikh Rahim — Movie Catalog Lead</a:t>
            </a:r>
          </a:p>
          <a:p>
            <a:pPr>
              <a:defRPr sz="1250">
                <a:solidFill>
                  <a:srgbClr val="2B0F0A"/>
                </a:solidFill>
              </a:defRPr>
            </a:pPr>
            <a:r>
              <a:t>• Movie.java (Domain model with runtime formatting)</a:t>
            </a:r>
            <a:br/>
            <a:r>
              <a:t>• index.html (Responsive frontend markup &amp; screen router)</a:t>
            </a:r>
            <a:br/>
            <a:r>
              <a:t>• posters/ (Theatrical high-resolution posters for 8 movies)</a:t>
            </a:r>
            <a:br/>
            <a:r>
              <a:t>• Movie metadata JSON serialization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1206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91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b="1" sz="1600">
                <a:solidFill>
                  <a:srgbClr val="59171B"/>
                </a:solidFill>
              </a:defRPr>
            </a:pPr>
            <a:r>
              <a:t>Shruti Wadhonkar — Validation &amp; UI Design</a:t>
            </a:r>
          </a:p>
          <a:p>
            <a:pPr>
              <a:defRPr sz="1250">
                <a:solidFill>
                  <a:srgbClr val="2B0F0A"/>
                </a:solidFill>
              </a:defRPr>
            </a:pPr>
            <a:r>
              <a:t>• Customer.java (Customer model with strict constraints)</a:t>
            </a:r>
            <a:br/>
            <a:r>
              <a:t>• 10-digit mobile number regex validator (^\d{10}$)</a:t>
            </a:r>
            <a:br/>
            <a:r>
              <a:t>• style.css (Burgundy &amp; Peach design system)</a:t>
            </a:r>
            <a:br/>
            <a:r>
              <a:t>• Seat button styling &amp; interactive modal dialogs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3931920"/>
            <a:ext cx="51206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91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b="1" sz="1600">
                <a:solidFill>
                  <a:srgbClr val="59171B"/>
                </a:solidFill>
              </a:defRPr>
            </a:pPr>
            <a:r>
              <a:t>Shivani Dudhane — Billing &amp; Client Controller</a:t>
            </a:r>
          </a:p>
          <a:p>
            <a:pPr>
              <a:defRPr sz="1250">
                <a:solidFill>
                  <a:srgbClr val="2B0F0A"/>
                </a:solidFill>
              </a:defRPr>
            </a:pPr>
            <a:r>
              <a:t>• Ticket.java (Composition model &amp; base billing)</a:t>
            </a:r>
            <a:br/>
            <a:r>
              <a:t>• PremiumTicket.java (Inheritance &amp; recliner surcharge)</a:t>
            </a:r>
            <a:br/>
            <a:r>
              <a:t>• app.js (Client-side REST API integration)</a:t>
            </a:r>
            <a:br/>
            <a:r>
              <a:t>• Interactive seat selection &amp; live price breakdown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9171B"/>
          </a:solidFill>
          <a:ln>
            <a:solidFill>
              <a:srgbClr val="591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FED7B8"/>
                </a:solidFill>
              </a:defRPr>
            </a:pPr>
            <a:r>
              <a:t>LUMIÈRE CINEMAS | OOP JAVA PROJECT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Object-Oriented Programming (OOP) Implementation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91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b="1" sz="1600">
                <a:solidFill>
                  <a:srgbClr val="59171B"/>
                </a:solidFill>
              </a:defRPr>
            </a:pPr>
            <a:r>
              <a:t>🔒 Encapsulation &amp; Data Validation</a:t>
            </a:r>
          </a:p>
          <a:p>
            <a:pPr>
              <a:defRPr sz="1250">
                <a:solidFill>
                  <a:srgbClr val="2B0F0A"/>
                </a:solidFill>
              </a:defRPr>
            </a:pPr>
            <a:r>
              <a:t>• All entity fields (title, price, phone, seats) are private</a:t>
            </a:r>
            <a:br/>
            <a:r>
              <a:t>• Strict setter boundary checks throw IllegalArgumentException</a:t>
            </a:r>
            <a:br/>
            <a:r>
              <a:t>• Regex validation guarantees valid 10-digit customer mobile numbers</a:t>
            </a:r>
            <a:br/>
            <a:r>
              <a:t>• Clone arrays used to prevent external mutation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7160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91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b="1" sz="1600">
                <a:solidFill>
                  <a:srgbClr val="59171B"/>
                </a:solidFill>
              </a:defRPr>
            </a:pPr>
            <a:r>
              <a:t>🧩 Object Composition</a:t>
            </a:r>
          </a:p>
          <a:p>
            <a:pPr>
              <a:defRPr sz="1250">
                <a:solidFill>
                  <a:srgbClr val="2B0F0A"/>
                </a:solidFill>
              </a:defRPr>
            </a:pPr>
            <a:r>
              <a:t>• Implements HAS-A relationships:</a:t>
            </a:r>
            <a:br/>
            <a:r>
              <a:t>   - Ticket HAS-A Movie</a:t>
            </a:r>
            <a:br/>
            <a:r>
              <a:t>   - Ticket HAS-A Customer</a:t>
            </a:r>
            <a:br/>
            <a:r>
              <a:t>• Promotes code reusability and clean separation of concerns without inheritance bloat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1206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91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b="1" sz="1600">
                <a:solidFill>
                  <a:srgbClr val="59171B"/>
                </a:solidFill>
              </a:defRPr>
            </a:pPr>
            <a:r>
              <a:t>🧬 Inheritance &amp; Polymorphism</a:t>
            </a:r>
          </a:p>
          <a:p>
            <a:pPr>
              <a:defRPr sz="1250">
                <a:solidFill>
                  <a:srgbClr val="2B0F0A"/>
                </a:solidFill>
              </a:defRPr>
            </a:pPr>
            <a:r>
              <a:t>• PremiumTicket IS-A Ticket (extends Ticket)</a:t>
            </a:r>
            <a:br/>
            <a:r>
              <a:t>• Overrides calculateBill() dynamically:</a:t>
            </a:r>
            <a:br/>
            <a:r>
              <a:t>   Reuses super.calculateBill() and appends +Rs. 100 recliner surcharge plus statutory GST</a:t>
            </a:r>
            <a:br/>
            <a:r>
              <a:t>• Handled polymorphically across the entire 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3931920"/>
            <a:ext cx="51206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91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b="1" sz="1600">
                <a:solidFill>
                  <a:srgbClr val="59171B"/>
                </a:solidFill>
              </a:defRPr>
            </a:pPr>
            <a:r>
              <a:t>🏛️ Class-Level Static Members</a:t>
            </a:r>
          </a:p>
          <a:p>
            <a:pPr>
              <a:defRPr sz="1250">
                <a:solidFill>
                  <a:srgbClr val="2B0F0A"/>
                </a:solidFill>
              </a:defRPr>
            </a:pPr>
            <a:r>
              <a:t>• Static constants: THEATRE_NAME, GST_PERCENT (18%), CONVENIENCE_FEE (Rs. 10)</a:t>
            </a:r>
            <a:br/>
            <a:r>
              <a:t>• Static counter tracking total tickets created across the lifetime of the application</a:t>
            </a:r>
            <a:br/>
            <a:r>
              <a:t>• Static breakdown() helper used by frontend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9171B"/>
          </a:solidFill>
          <a:ln>
            <a:solidFill>
              <a:srgbClr val="591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FED7B8"/>
                </a:solidFill>
              </a:defRPr>
            </a:pPr>
            <a:r>
              <a:t>LUMIÈRE CINEMAS | OOP JAVA PROJECT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Backend Architecture &amp; Concurrency Engine (Kabir Ubale)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91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b="1" sz="1600">
                <a:solidFill>
                  <a:srgbClr val="59171B"/>
                </a:solidFill>
              </a:defRPr>
            </a:pPr>
            <a:r>
              <a:t>Embedded Java Web Server (App.java)</a:t>
            </a:r>
          </a:p>
          <a:p>
            <a:pPr>
              <a:defRPr sz="1250">
                <a:solidFill>
                  <a:srgbClr val="2B0F0A"/>
                </a:solidFill>
              </a:defRPr>
            </a:pPr>
            <a:r>
              <a:t>• Standard Library Implementation</a:t>
            </a:r>
            <a:br/>
            <a:r>
              <a:t>   Uses com.sun.net.httpserver.HttpServer (no external dependencies like Tomcat/Spring needed).</a:t>
            </a:r>
            <a:br/>
            <a:br/>
            <a:r>
              <a:t>• Smart Auto-Port Detection</a:t>
            </a:r>
            <a:br/>
            <a:r>
              <a:t>   Attempts port 8080, and if occupied, automatically cascades through 8081-8095. Completely eliminates BindException!</a:t>
            </a:r>
            <a:br/>
            <a:br/>
            <a:r>
              <a:t>• Multi-Folder Static File Dispatcher</a:t>
            </a:r>
            <a:br/>
            <a:r>
              <a:t>   Dynamically serves assets from all 4 teammates' folders (Shaikh_Rahim, Shruti_Wadhonkar, Shivani_Dudhane, Kabir_Ubale) with correct MIME types.</a:t>
            </a:r>
            <a:br/>
            <a:br/>
            <a:r>
              <a:t>• Native Browser Integration</a:t>
            </a:r>
            <a:br/>
            <a:r>
              <a:t>   Automatically opens default browser upon server startup using java.awt.Desktop.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91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b="1" sz="1600">
                <a:solidFill>
                  <a:srgbClr val="59171B"/>
                </a:solidFill>
              </a:defRPr>
            </a:pPr>
            <a:r>
              <a:t>Transactional Booking Store (BookingStore.java)</a:t>
            </a:r>
          </a:p>
          <a:p>
            <a:pPr>
              <a:defRPr sz="1250">
                <a:solidFill>
                  <a:srgbClr val="2B0F0A"/>
                </a:solidFill>
              </a:defRPr>
            </a:pPr>
            <a:r>
              <a:t>• Thread-Safe Synchronized Execution</a:t>
            </a:r>
            <a:br/>
            <a:r>
              <a:t>   All booking, cancellation, and seat check methods are synchronized to prevent race conditions during concurrent bookings.</a:t>
            </a:r>
            <a:br/>
            <a:br/>
            <a:r>
              <a:t>• Real-Time Collision Prevention</a:t>
            </a:r>
            <a:br/>
            <a:r>
              <a:t>   Scans active bookings for matching movie, showtime, and seat name. Rejects overlapping attempts with descriptive error messages.</a:t>
            </a:r>
            <a:br/>
            <a:br/>
            <a:r>
              <a:t>• Instant Cancellation &amp; Seat Release</a:t>
            </a:r>
            <a:br/>
            <a:r>
              <a:t>   Removing a booking by ID instantly liberates those seats on the seat matrix.</a:t>
            </a:r>
            <a:br/>
            <a:br/>
            <a:r>
              <a:t>• Fast Search Engine</a:t>
            </a:r>
            <a:br/>
            <a:r>
              <a:t>   Case-insensitive lookup across Booking ID, Customer Name, and Movie Title.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9171B"/>
          </a:solidFill>
          <a:ln>
            <a:solidFill>
              <a:srgbClr val="591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FED7B8"/>
                </a:solidFill>
              </a:defRPr>
            </a:pPr>
            <a:r>
              <a:t>LUMIÈRE CINEMAS | OOP JAVA PROJECT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Interactive Seat Matrix &amp; UI Experience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91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b="1" sz="1600">
                <a:solidFill>
                  <a:srgbClr val="59171B"/>
                </a:solidFill>
              </a:defRPr>
            </a:pPr>
            <a:r>
              <a:t>Curved Seat Selection Grid</a:t>
            </a:r>
          </a:p>
          <a:p>
            <a:pPr>
              <a:defRPr sz="1250">
                <a:solidFill>
                  <a:srgbClr val="2B0F0A"/>
                </a:solidFill>
              </a:defRPr>
            </a:pPr>
            <a:r>
              <a:t>• Matrix Dimensions</a:t>
            </a:r>
            <a:br/>
            <a:r>
              <a:t>   10 Rows (A to J) x 12 Columns (1 to 12) = 120 Seats.</a:t>
            </a:r>
            <a:br/>
            <a:br/>
            <a:r>
              <a:t>• Real-World Theater Architecture</a:t>
            </a:r>
            <a:br/>
            <a:r>
              <a:t>   Includes visual Screen curve and central aisle walkway between columns 6 and 7.</a:t>
            </a:r>
            <a:br/>
            <a:br/>
            <a:r>
              <a:t>• Three-Color State Indicator</a:t>
            </a:r>
            <a:br/>
            <a:r>
              <a:t>   - Mint Green = Available</a:t>
            </a:r>
            <a:br/>
            <a:r>
              <a:t>   - Deep Burgundy = Selected by Customer</a:t>
            </a:r>
            <a:br/>
            <a:r>
              <a:t>   - Warm Gray = Already Booked (Disabled)</a:t>
            </a:r>
            <a:br/>
            <a:br/>
            <a:r>
              <a:t>• Safeguards &amp; Limitations</a:t>
            </a:r>
            <a:br/>
            <a:r>
              <a:t>   Restricts individual bookings to a maximum of 8 seats to prevent monopolization.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91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b="1" sz="1600">
                <a:solidFill>
                  <a:srgbClr val="59171B"/>
                </a:solidFill>
              </a:defRPr>
            </a:pPr>
            <a:r>
              <a:t>Live Pricing &amp; Checkout Workflow</a:t>
            </a:r>
          </a:p>
          <a:p>
            <a:pPr>
              <a:defRPr sz="1250">
                <a:solidFill>
                  <a:srgbClr val="2B0F0A"/>
                </a:solidFill>
              </a:defRPr>
            </a:pPr>
            <a:r>
              <a:t>• Regular vs. Premium Toggle</a:t>
            </a:r>
            <a:br/>
            <a:r>
              <a:t>   Switching ticket type updates unit seat cost instantly (adds Rs. 100 recliner surcharge).</a:t>
            </a:r>
            <a:br/>
            <a:br/>
            <a:r>
              <a:t>• Dynamic Live Bill Breakdown</a:t>
            </a:r>
            <a:br/>
            <a:r>
              <a:t>   - Base Amount = Qty * Unit Seat Price</a:t>
            </a:r>
            <a:br/>
            <a:r>
              <a:t>   - Convenience Fee = Qty * Rs. 10.00</a:t>
            </a:r>
            <a:br/>
            <a:r>
              <a:t>   - GST = (Base + Fee) * 18%</a:t>
            </a:r>
            <a:br/>
            <a:r>
              <a:t>   - Total Payable Amount</a:t>
            </a:r>
            <a:br/>
            <a:br/>
            <a:r>
              <a:t>• Modal Bill Receipt</a:t>
            </a:r>
            <a:br/>
            <a:r>
              <a:t>   Dedicated popup modal displaying clean itemized receipt.</a:t>
            </a:r>
            <a:br/>
            <a:br/>
            <a:r>
              <a:t>• Real Poster Integration</a:t>
            </a:r>
            <a:br/>
            <a:r>
              <a:t>   All 8 movies feature official theatrical artwork.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9171B"/>
          </a:solidFill>
          <a:ln>
            <a:solidFill>
              <a:srgbClr val="591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FED7B8"/>
                </a:solidFill>
              </a:defRPr>
            </a:pPr>
            <a:r>
              <a:t>LUMIÈRE CINEMAS | OOP JAVA PROJECT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Verification, Testing &amp; 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91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b="1" sz="1600">
                <a:solidFill>
                  <a:srgbClr val="59171B"/>
                </a:solidFill>
              </a:defRPr>
            </a:pPr>
            <a:r>
              <a:t>Automated Terminal Verification (demo)</a:t>
            </a:r>
          </a:p>
          <a:p>
            <a:pPr>
              <a:defRPr sz="1250">
                <a:solidFill>
                  <a:srgbClr val="2B0F0A"/>
                </a:solidFill>
              </a:defRPr>
            </a:pPr>
            <a:r>
              <a:t>Command: java -cp ... App demo</a:t>
            </a:r>
            <a:br/>
            <a:br/>
            <a:r>
              <a:t>Results:</a:t>
            </a:r>
            <a:br/>
            <a:r>
              <a:t>=== LUMIÈRE CINEMA BOOKING ENGINE - CORE TEST ===</a:t>
            </a:r>
            <a:br/>
            <a:r>
              <a:t>• Regular Ticket Bill: Rs. 448.40 (Dune 2, 2 seats)</a:t>
            </a:r>
            <a:br/>
            <a:r>
              <a:t>• Premium Ticket Bill: Rs. 684.40 (+recliner fee + GST)</a:t>
            </a:r>
            <a:br/>
            <a:r>
              <a:t>• Total Seats Booked: 4</a:t>
            </a:r>
            <a:br/>
            <a:r>
              <a:t>• Total Revenue: Rs. 1132.80</a:t>
            </a:r>
            <a:br/>
            <a:r>
              <a:t>• Cancellation Verification:</a:t>
            </a:r>
            <a:br/>
            <a:r>
              <a:t>   - Cancelled LUM100001</a:t>
            </a:r>
            <a:br/>
            <a:r>
              <a:t>   - Active Bookings dropped to 1</a:t>
            </a:r>
            <a:br/>
            <a:r>
              <a:t>   - Is Seat E5 Booked?: false (Successfully freed!)</a:t>
            </a:r>
            <a:br/>
            <a:br/>
            <a:r>
              <a:t>All test assertions passed with 100% accuracy.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91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b="1" sz="1600">
                <a:solidFill>
                  <a:srgbClr val="59171B"/>
                </a:solidFill>
              </a:defRPr>
            </a:pPr>
            <a:r>
              <a:t>Web Application Live Testing</a:t>
            </a:r>
          </a:p>
          <a:p>
            <a:pPr>
              <a:defRPr sz="1250">
                <a:solidFill>
                  <a:srgbClr val="2B0F0A"/>
                </a:solidFill>
              </a:defRPr>
            </a:pPr>
            <a:r>
              <a:t>• Cross-Browser Compatibility</a:t>
            </a:r>
            <a:br/>
            <a:r>
              <a:t>   Tested and confirmed working on Google Chrome, Microsoft Edge, Mozilla Firefox.</a:t>
            </a:r>
            <a:br/>
            <a:br/>
            <a:r>
              <a:t>• REST API Response Times</a:t>
            </a:r>
            <a:br/>
            <a:r>
              <a:t>   All endpoints (/api/movies, /api/book, /api/summary) respond in under 15ms.</a:t>
            </a:r>
            <a:br/>
            <a:br/>
            <a:r>
              <a:t>• Git Contribution Integrity</a:t>
            </a:r>
            <a:br/>
            <a:r>
              <a:t>   Verified clean repository network graph with commits from all 4 team members:</a:t>
            </a:r>
            <a:br/>
            <a:r>
              <a:t>   - Shaikh Rahim</a:t>
            </a:r>
            <a:br/>
            <a:r>
              <a:t>   - Shruti Wadhonkar</a:t>
            </a:r>
            <a:br/>
            <a:r>
              <a:t>   - Shivani Dudhane</a:t>
            </a:r>
            <a:br/>
            <a:r>
              <a:t>   - Kabir Ubale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9171B"/>
          </a:solidFill>
          <a:ln>
            <a:solidFill>
              <a:srgbClr val="591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FED7B8"/>
                </a:solidFill>
              </a:defRPr>
            </a:pPr>
            <a:r>
              <a:t>LUMIÈRE CINEMAS | OOP JAVA PROJECT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Conclusion &amp; Future Enhancements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91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b="1" sz="1600">
                <a:solidFill>
                  <a:srgbClr val="59171B"/>
                </a:solidFill>
              </a:defRPr>
            </a:pPr>
            <a:r>
              <a:t>Project Achievements</a:t>
            </a:r>
          </a:p>
          <a:p>
            <a:pPr>
              <a:defRPr sz="1250">
                <a:solidFill>
                  <a:srgbClr val="2B0F0A"/>
                </a:solidFill>
              </a:defRPr>
            </a:pPr>
            <a:r>
              <a:t>• Successful Modernization</a:t>
            </a:r>
            <a:br/>
            <a:r>
              <a:t>   Transformed a 15-file Java Swing desktop app into a minimal, aesthetic full-stack web application.</a:t>
            </a:r>
            <a:br/>
            <a:br/>
            <a:r>
              <a:t>• Zero External Dependencies</a:t>
            </a:r>
            <a:br/>
            <a:r>
              <a:t>   Eliminated third-party framework overhead; runs cleanly on any standard JDK 11+ environment.</a:t>
            </a:r>
            <a:br/>
            <a:br/>
            <a:r>
              <a:t>• Perfect OOP Demonstrations</a:t>
            </a:r>
            <a:br/>
            <a:r>
              <a:t>   Exemplary showcase of Encapsulation, Composition, Inheritance, Polymorphism, and Multi-threading.</a:t>
            </a:r>
            <a:br/>
            <a:br/>
            <a:r>
              <a:t>• Clean Team Workflow</a:t>
            </a:r>
            <a:br/>
            <a:r>
              <a:t>   Dedicated modular folders allowing frictionless git push without merge conflicts.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91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b="1" sz="1600">
                <a:solidFill>
                  <a:srgbClr val="59171B"/>
                </a:solidFill>
              </a:defRPr>
            </a:pPr>
            <a:r>
              <a:t>Future Scope &amp; Roadmap</a:t>
            </a:r>
          </a:p>
          <a:p>
            <a:pPr>
              <a:defRPr sz="1250">
                <a:solidFill>
                  <a:srgbClr val="2B0F0A"/>
                </a:solidFill>
              </a:defRPr>
            </a:pPr>
            <a:r>
              <a:t>• Database Persistence</a:t>
            </a:r>
            <a:br/>
            <a:r>
              <a:t>   Integrate JDBC connection to SQLite or PostgreSQL for permanent transactional storage.</a:t>
            </a:r>
            <a:br/>
            <a:br/>
            <a:r>
              <a:t>• Digital QR Tickets</a:t>
            </a:r>
            <a:br/>
            <a:r>
              <a:t>   Generate downloadable PDF tickets containing encrypted QR codes for contactless theater check-in.</a:t>
            </a:r>
            <a:br/>
            <a:br/>
            <a:r>
              <a:t>• Payment Gateway Integration</a:t>
            </a:r>
            <a:br/>
            <a:r>
              <a:t>   Integrate Razorpay or Stripe sandbox API for online UPI and card processing.</a:t>
            </a:r>
            <a:br/>
            <a:br/>
            <a:r>
              <a:t>• Food &amp; Beverage (F&amp;B) Addons</a:t>
            </a:r>
            <a:br/>
            <a:r>
              <a:t>   Allow users to pre-order theater snacks (popcorn, beverages) during ticket checkout.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0E12"/>
          </a:solidFill>
          <a:ln>
            <a:solidFill>
              <a:srgbClr val="3A0E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defRPr sz="2400">
                <a:solidFill>
                  <a:srgbClr val="FED7B8"/>
                </a:solidFill>
              </a:defRPr>
            </a:pPr>
            <a:r>
              <a:t>Questions &amp; Demonstration</a:t>
            </a:r>
          </a:p>
          <a:p>
            <a:br/>
            <a:pPr algn="ctr">
              <a:defRPr sz="1400">
                <a:solidFill>
                  <a:srgbClr val="FFFFFF"/>
                </a:solidFill>
              </a:defRPr>
            </a:pPr>
            <a:r>
              <a:t>Lumière Cinemas • Group 5 • BNCOE Pusad</a:t>
            </a:r>
            <a:br/>
            <a:r>
              <a:t>Repository: github.com/shivannie27/lumiere-movie-booking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